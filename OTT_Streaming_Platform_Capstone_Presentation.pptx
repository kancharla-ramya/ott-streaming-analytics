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1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B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61B33"/>
                </a:solidFill>
                <a:latin typeface="Arial"/>
              </a:rPr>
              <a:t>Avg. Completion % by Watch-Duration Bucket (min)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Completion %</c:v>
                </c:pt>
              </c:strCache>
            </c:strRef>
          </c:tx>
          <c:spPr>
            <a:ln w="38100" cap="flat">
              <a:solidFill>
                <a:srgbClr val="1E82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24C"/>
              </a:solidFill>
              <a:ln w="9525" cap="flat">
                <a:solidFill>
                  <a:srgbClr val="1E824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0-500</c:v>
                </c:pt>
                <c:pt idx="1">
                  <c:v>500-1000</c:v>
                </c:pt>
                <c:pt idx="2">
                  <c:v>1000-2000</c:v>
                </c:pt>
                <c:pt idx="3">
                  <c:v>2000-3000</c:v>
                </c:pt>
                <c:pt idx="4">
                  <c:v>3000-4000</c:v>
                </c:pt>
                <c:pt idx="5">
                  <c:v>4000-5000</c:v>
                </c:pt>
                <c:pt idx="6">
                  <c:v>5000-6000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44</c:v>
                </c:pt>
                <c:pt idx="2">
                  <c:v>50</c:v>
                </c:pt>
                <c:pt idx="3">
                  <c:v>55</c:v>
                </c:pt>
                <c:pt idx="4">
                  <c:v>59</c:v>
                </c:pt>
                <c:pt idx="5">
                  <c:v>63</c:v>
                </c:pt>
                <c:pt idx="6">
                  <c:v>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E5E-458A-B324-DC4C11BAF1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2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2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60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28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731520"/>
            <a:ext cx="3840480" cy="3840480"/>
          </a:xfrm>
          <a:prstGeom prst="ellipse">
            <a:avLst/>
          </a:prstGeom>
          <a:solidFill>
            <a:srgbClr val="1A2A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6D9D1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969264" y="822960"/>
            <a:ext cx="274320" cy="292608"/>
          </a:xfrm>
          <a:prstGeom prst="triangle">
            <a:avLst/>
          </a:prstGeom>
          <a:solidFill>
            <a:srgbClr val="0B11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7132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STREAMING ANALYTICS  •  MEDIATECH CASE STUDY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9692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Analysing OTT Platform Viewing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to Drive Data-Driven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Retention Decisions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708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NetStream · AmazePrime · DizPlay+  |  Excel · Python · SQL · Power BI · Statistics &amp; Regression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230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486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Kancharla Ramya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5230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5486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Program in Data Analytics with GenAI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5230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5486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5230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54864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09 /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NIIT 11-Phase Analytics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this capstone — from kickoff to final presentation — follows NIIT's structured 11-phase methodology.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56232"/>
            <a:ext cx="457200" cy="457200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819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&amp; Project Allocation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42816" y="1691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56232"/>
            <a:ext cx="457200" cy="457200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7408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56048" y="1819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Familiarisation, Cleaning &amp; Version Control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36992" y="1691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85623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01584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50224" y="1819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Hypothesis Framing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999232"/>
            <a:ext cx="457200" cy="457200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2962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 &amp; Dashboard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42816" y="2834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08" y="2999232"/>
            <a:ext cx="457200" cy="457200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07408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956048" y="2962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36992" y="2834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299923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01584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650224" y="2962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142232"/>
            <a:ext cx="457200" cy="457200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261872" y="4105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42816" y="3977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07408" y="4142232"/>
            <a:ext cx="457200" cy="457200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07408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956048" y="4105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36992" y="3977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01584" y="414223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101584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650224" y="4105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120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285232"/>
            <a:ext cx="457200" cy="457200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13232" y="5285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261872" y="5248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Insights, Recommendations &amp; Future Scope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42816" y="5120640"/>
            <a:ext cx="3584448" cy="1024128"/>
          </a:xfrm>
          <a:prstGeom prst="roundRect">
            <a:avLst>
              <a:gd name="adj" fmla="val 7143"/>
            </a:avLst>
          </a:prstGeom>
          <a:solidFill>
            <a:srgbClr val="1B234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7408" y="5285232"/>
            <a:ext cx="457200" cy="457200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07408" y="5285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956048" y="5248656"/>
            <a:ext cx="2715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 &amp; Presentation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OTT viewing data into business decisions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viewing patterns, user engagement, content performance and subscription retention behaviour </a:t>
            </a:r>
            <a:r>
              <a:rPr lang="en-US" sz="14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support data-driven decisions for MediaTech</a:t>
            </a:r>
            <a:r>
              <a:rPr lang="en-US" sz="14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OTT case study spanning three streaming platforms.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201168" cy="201168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986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5 datasets: user profiles, content library, viewing activity, subscription &amp; retention, ratings &amp; feedback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48456"/>
            <a:ext cx="201168" cy="201168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557016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Excel, Python, SQL, Power BI, statistical testing and Simple Linear Regression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06824"/>
            <a:ext cx="201168" cy="20116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215384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actionable recommendations for content acquisition, curation, engagement and retention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160020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0B11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ANALYSED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23760" y="22860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2359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NetStream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68833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watch hours &amp; views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314553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3218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AmazePrime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354787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second-tier engagement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23760" y="400507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4078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DizPlay+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40740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catalogue &amp; lowest reach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500176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identify meaningful patterns in viewer behaviour and content performance and convert them into recommendations for content, engagement and retention strategy.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integrated datasets covering the full OTT customer journey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5146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44368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9476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field: User_ID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519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subscription profile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07208" y="169164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180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44368" y="25146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17,797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944368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4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44368" y="32461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379476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field: show_id / Content_ID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42519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metadata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65776" y="169164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30368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02936" y="25146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202936" y="2944368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202936" y="32461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Activity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02936" y="379476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field: Session_ID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202936" y="42519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&amp; engagement behaviour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24344" y="169164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88936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61504" y="25146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461504" y="2944368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461504" y="32461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Retention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461504" y="379476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field: User_ID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461504" y="42519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&amp; churn information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582912" y="1691640"/>
            <a:ext cx="2139696" cy="32461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747504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20072" y="25146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9720072" y="2944368"/>
            <a:ext cx="1865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4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720072" y="324612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Feedback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720072" y="379476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field: User_ID + Content_ID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720072" y="42519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likes &amp; feedback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166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were integrated conceptually through common identifiers — User_ID and Content_ID — linking user characteristics, content, viewing behaviour, feedback and subscription outcomes.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Cleaning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reliable foundation before any analysis began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6D9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163677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and duplicate records across all five datasets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436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163677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 types, numerical ranges and standardised text/categorical fields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6D9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59689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and standardised Content ID formats for consistent joins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436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2651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259689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incorrectly stored duration values in the Content Library where possible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6D9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611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355701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duplicate Session_IDs and created a unique Viewing_Record_ID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6118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436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3611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355701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invalid / zero-duration records for analytical 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6D9D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451713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dates, numerical values and key relationships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57200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436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2648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4517136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potential outliers (especially Watch Duration) and retained questionable records where deletion would introduce unsupported assumptions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objectives connecting data to business action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High-Engagement Content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high-performing genres, languages, content types and platforms for acquisition &amp; curation.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41648" y="169164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24528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2452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224528" y="246888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Viewing Behaviour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92608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patterns across demographics, regions, devices, platforms and time periods.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34656" y="169164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17536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B9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1753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17536" y="246888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Subscription &amp; Retention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17536" y="292608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renewal and churn behaviour and the engagement patterns linked to retention.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61772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Content Success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07492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views, watch duration, completion and ratings/feedback to gauge content performance.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41648" y="384048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24528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2452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224528" y="461772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224528" y="507492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findings into recommendations for content strategy, engagement and retention.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2834640"/>
          </a:xfrm>
          <a:prstGeom prst="roundRect">
            <a:avLst>
              <a:gd name="adj" fmla="val 3871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234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9509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OTT platform viewing behaviour, content performance, user characteristics, ratings and subscription retention to identify factors influencing engagement and churn — and support data-driven content, platform and customer-retention decisions.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OTT platform needs to understand how users interact with content and platforms, and how viewing behaviour relates to subscription retention — enabling better content and customer-retention decisions.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Questions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questions driving every phase of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56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647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Performance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764792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genres, languages and OTT platforms have the highest viewer engagement and completion rates?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770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6791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Viewing Behaviour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679192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viewing patterns differ across demographics, regions, devices and time of day?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935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Success &amp; Feedback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593592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ratings, likes and feedback related to completion and rewatch behaviour?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45994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5079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Retention &amp; Churn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507992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engagement and subscription factors are associated with renewal and churn?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5513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5513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42239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Engagement &amp; Completion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5422392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Watch Duration significantly influence Completion Percentage, and can it predict it?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story, told across five analytical platforms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84048" cy="384048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45059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907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PivotTables, KPIs, outlier detection, dashboard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73736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920240"/>
            <a:ext cx="384048" cy="384048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92424" y="245059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 / NumPy)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92424" y="2907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preprocessing, EDA, statistical exploration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07024" y="173736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1920240"/>
            <a:ext cx="384048" cy="38404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71616" y="245059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71616" y="2907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86216" y="1737360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69096" y="1920240"/>
            <a:ext cx="384048" cy="384048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50808" y="245059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29077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Querying, joins, aggregations, business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685032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4398264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855464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dashboard, data modelling, reporting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27832" y="3685032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0712" y="3867912"/>
            <a:ext cx="384048" cy="38404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92424" y="4398264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392424" y="4855464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calculated measure development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07024" y="3685032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3867912"/>
            <a:ext cx="384048" cy="384048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71616" y="4398264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Google Colab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071616" y="4855464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 &amp; documentation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86216" y="3685032"/>
            <a:ext cx="2542032" cy="1783080"/>
          </a:xfrm>
          <a:prstGeom prst="roundRect">
            <a:avLst>
              <a:gd name="adj" fmla="val 4615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69096" y="3867912"/>
            <a:ext cx="384048" cy="384048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50808" y="4398264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750808" y="4855464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interactive web dashboard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 &amp; Project Allocation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MediaTech OTT case study, objectives, deliverables and analytical scope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 &amp; Project Allocation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foundation before touching any data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737360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Context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029968"/>
            <a:ext cx="4590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MediaTech OTT case study spanning NetStream, AmazePrime and DizPlay+, including business context and stakeholder needs.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89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11112" y="1737360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Definition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029968"/>
            <a:ext cx="4590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Clarified project objectives, expected deliverables (Excel, Python, SQL, Power BI, documentation, presentation) and analytical boundaries.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749040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Alignment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4041648"/>
            <a:ext cx="4590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the NIIT 11-phase analytics workflow to structure the capstone from kickoff through final presentation.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3794760"/>
            <a:ext cx="457200" cy="457200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893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11112" y="3749040"/>
            <a:ext cx="4590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Planning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4041648"/>
            <a:ext cx="4590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out five datasets and the tools required at each phase, ensuring a consistent thread from raw data to business insight.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Familiarisation,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Version Control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five datasets, cleaning and standardising them, and maintaining clean versions for analysis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Familiarisation &amp; Cleaning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introduced earlier, now executed dataset-by-dataset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0992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and duplicate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0992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691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 types and numerical ranges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3500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text fields and categorical values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368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3500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and standardised Content ID formats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00837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incorrectly stored duration values in Content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02666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00837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invalid / zero-duration records for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66674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duplicate Session_IDs → created Viewing_Record_ID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68503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66674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dates, numerical values and key relationships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32511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potential outliers, particularly in Watch Duration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3434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436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32511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questionable records to avoid unsupported deletions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datasets were then prepared consistently for Excel, Python, SQL and Power BI analysis.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Framing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business problem, questions and hypotheses that guide every later phase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Framing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formed around churn, renewal, engagement and completion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(tested in Phase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proportion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 differs significantly from a 20%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8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— 44.4% actual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proportion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rate differs significantly from a 70%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8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— below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Duration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watch duration differs between churned &amp; retained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 (no significant difference)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%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percentage differs between churned &amp; retained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 (no significant difference)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Type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is associated with subscription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8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— significant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Status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is strongly associated with renewal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8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— strong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is associated with device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 (no significant association)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Duration vs Completion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duration predicts completion percentage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8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but significant relationship (R²≈4.86%)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Analysis &amp; Dashboard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analysis, PivotTables, KPI calculation, outlier analysis and dashboard development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XLOOKUP, PivotTables and outlier analysis on the cleaned dataset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PERFORMED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02536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1109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activity by genre, content type, platform, region, language, device &amp; time of day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47802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vs TV Shows comparison on volume, duration &amp; engagement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449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type, renewal and churn behaviour analysis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118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completion % and rewatch-related behaviour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4270248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788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fields: Viewing Year, Content Duration, Content Age, engagement categories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0B11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0109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 (IQR METHOD)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32180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statistical boundary ≈ 247.13 minutes  |  Business-defined threshold: &gt; 225 minutes flagged as unusually long sessions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164592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7665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EXCEL FINDINGS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2402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21854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generate substantially higher total watch hours &amp; average duration than Movies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766560" y="29992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4368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0" y="2999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944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records the highest viewing volume of any genre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766560" y="37581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5B94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3758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37033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varies meaningfully by platform, region, device &amp; time period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766560" y="451713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26D9D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66560" y="4517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446227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≈ 44.4% — a significant retention challenge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766560" y="52760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E4368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66560" y="5276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522122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Duration &amp; Completion % show only a weak positive relationship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EDA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using Pandas, NumPy, Matplotlib &amp; Seaborn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Exploratory Data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Excel patterns with deeper statistical exploration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EDA ACTIVITIES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02536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110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dataset structure, dimensions &amp; data types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423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and duplicate records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3522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for numerical distributions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44728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categorical variables: genre, platform, content type, subscription, region, device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50792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593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viewing behaviour &amp; engagement patterns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62856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7141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churn &amp; retention across user/subscription characteristics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983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between key numerical variables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586984"/>
            <a:ext cx="146304" cy="146304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4955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histograms, boxplots, bar charts, count plots, heatmaps &amp; relationship plots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1645920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01968" y="1737360"/>
            <a:ext cx="2249424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8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0.2205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2524658"/>
            <a:ext cx="2249424" cy="4818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Duration ↔ Completion %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 positive correlation)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98280" y="16459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08008" y="1737360"/>
            <a:ext cx="2295144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-0.032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208008" y="2524658"/>
            <a:ext cx="2295144" cy="4818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Duration ↔ Completion %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(negligible relationship)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324612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0B112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6656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EDA FINDINGS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767328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generate substantially greater watch-hour engagement than Movies.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behaviour differs materially across genres and platforms, reinforcing the segmentation strategy carried into SQL and Power BI.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validated Excel-stage patterns and supplied evidence for the statistical validation and regression stages that follow.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analysis in MySQL: joins, aggregations, window functions, views, procedures &amp; triggers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ott_analysis Database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datasets loaded into MySQL for structured, scalable analysis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D9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2374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D9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content_info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35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D9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viewing_activity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54787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D9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subscription_retention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0599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D9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ratings_feedback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APPLIED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2057400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24528" y="1975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&amp; completeness / referential-integrity checks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3977640" y="2450592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24528" y="23682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statistics, aggregation &amp; percentile analysis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3977640" y="2843784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24528" y="2761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/ LEFT JOIN operations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3977640" y="3236976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24528" y="3154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derived tables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977640" y="3630168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24528" y="3547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 &amp; conditional aggregation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3977640" y="4023360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24528" y="39410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for ranking &amp; comparison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3977640" y="4416552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24528" y="43342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tables for intermediate analysis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977640" y="4809744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24528" y="4727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(e.g. vw_content_performance, vw_content_analysis)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3977640" y="5202936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24528" y="5120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(e.g. GetSubscriptionChurn, GetPlatformPerformance)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3977640" y="5596128"/>
            <a:ext cx="118872" cy="118872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224528" y="5513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data validation (e.g. trg_validate_rating, trg_validate_completion)</a:t>
            </a:r>
            <a:endParaRPr lang="en-US" sz="97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AREAS ANALYSED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0" y="201168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48472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performance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8229600" y="2441448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48472" y="2441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8229600" y="2871216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48472" y="28712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performance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8229600" y="3300984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348472" y="33009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engagement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8229600" y="3730752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348472" y="37307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feedback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8229600" y="416052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348472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behaviour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8229600" y="4590288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348472" y="4590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&amp; churn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8229600" y="5020056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348472" y="5020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patterns</a:t>
            </a:r>
            <a:endParaRPr lang="en-US" sz="970" dirty="0"/>
          </a:p>
        </p:txBody>
      </p:sp>
      <p:sp>
        <p:nvSpPr>
          <p:cNvPr id="55" name="Shape 53"/>
          <p:cNvSpPr/>
          <p:nvPr/>
        </p:nvSpPr>
        <p:spPr>
          <a:xfrm>
            <a:off x="8229600" y="5449824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1A244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348472" y="544982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activity</a:t>
            </a:r>
            <a:endParaRPr lang="en-US" sz="97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provided a structured, scalable way to validate Excel and Python findings and to translate business questions directly into query logic.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dashboard with data modelling, DAX measures, KPIs, filters &amp; Row-Level Security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Data Model, KPIs &amp; DAX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model built around user, content, viewing, ratings and subscription tables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19568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391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3864" y="19568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4963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83864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Watch Duration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535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28712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Completion 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9535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83864" y="28712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328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/ Retained Users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410712"/>
            <a:ext cx="128016" cy="12801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83864" y="33284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&amp; Renewal Rate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7939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Total/distinct user counts · total watch duration &amp; hours · average viewing duration &amp; completion % · churn/retention &amp; churn % · renewal % · filter-responsive measures · time-based calcs via Date table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446520" y="1691640"/>
            <a:ext cx="5166360" cy="4343400"/>
          </a:xfrm>
          <a:prstGeom prst="roundRect">
            <a:avLst>
              <a:gd name="adj" fmla="val 2105"/>
            </a:avLst>
          </a:prstGeom>
          <a:solidFill>
            <a:srgbClr val="0B11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1945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cross-analyse by Platform, Region, Content Type, Genre, Subscription Type and Time.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333756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to restrict regional data access according to defined analyst roles in the final Power BI report.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EIGHT-PAGE DASHBOARD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448056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User Analysis · Content Performance · Viewing &amp; Engagement · Subscription &amp; Churn · Ratings &amp; Feedback · Platform Analysis · Insights &amp; Recommendations — explored on the following slides.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Overview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users, 18K content items, 30K views. Retention 55.6%, average watch time 181 min, average rating 3.01.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hours dipped in 2023, recovered in 2024, then fell again in 2025. NetStream leads total watch hours &amp; views; Joker tops the most-viewed title list.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User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% is consistent across age groups (≈52%) and subscription tiers.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&amp; West regions post the highest watch hours and views; Smart TV is the leading device by user count, followed by Mobile, Tablet and Laptop.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Content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NetStream has the highest watch hours but relatively low popularity scores — content is engaging but under-promoted.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AmazePrime shows some high-popularity, low-watch-hour titles worth reviewing for catalogue positioning.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Viewing &amp; Engagement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generates the highest watch hours, followed by Evening, Afternoon and Morning.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drive 72.9% of views vs. 27.1% for TV Shows, though TV Shows still contribute very high total watch hours. Watch duration vs completion % is a weak relationship.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Subscription &amp; Churn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has the highest churned-user count (483), followed by Basic (280) and Premium (125).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Status is the strongest driver of churn; Free Trial users are ~40% more likely to churn, while Premium subscribers show ~38% lower churn.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Ratings &amp; Feedback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≈ 3.01/5; positive feedback share ≈ 40.3%.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don't strongly drive watch hours — most titles cluster under 100 hours regardless of rating. High-rated, low-volume titles are candidates for targeted promotion.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Platform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and decomposition tree reveal watch hours by Platform × Genre and by Region → Age → Platform → Content Type.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NetStream shows strong engagement across multiple genres rather than depending on a single category.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— Insights &amp; Recommendations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3776" y="996696"/>
            <a:ext cx="7882128" cy="5367528"/>
          </a:xfrm>
          <a:prstGeom prst="roundRect">
            <a:avLst>
              <a:gd name="adj" fmla="val 1193"/>
            </a:avLst>
          </a:prstGeom>
          <a:solidFill>
            <a:srgbClr val="0B1128"/>
          </a:solidFill>
          <a:ln/>
        </p:spPr>
      </p:sp>
      <p:pic>
        <p:nvPicPr>
          <p:cNvPr id="6" name="Image 0" descr="/home/claude/ott_ppt/imgs/pbi-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051560"/>
            <a:ext cx="7772400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051560"/>
            <a:ext cx="3063240" cy="5257800"/>
          </a:xfrm>
          <a:prstGeom prst="roundRect">
            <a:avLst>
              <a:gd name="adj" fmla="val 2985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782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572768"/>
            <a:ext cx="2651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executive-overview page pairs every core visual with its business insight, actionable insight and recommendation — turning the dashboard into a decision-ready briefing document for stakeholders.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BUILD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Streamlit Dashboard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Python/Plotly web app rebuilding the core KPIs for quick, code-driven exploration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" y="1362456"/>
            <a:ext cx="5184648" cy="5001768"/>
          </a:xfrm>
          <a:prstGeom prst="roundRect">
            <a:avLst>
              <a:gd name="adj" fmla="val 1280"/>
            </a:avLst>
          </a:prstGeom>
          <a:solidFill>
            <a:srgbClr val="0B1128"/>
          </a:solidFill>
          <a:ln/>
        </p:spPr>
      </p:sp>
      <p:pic>
        <p:nvPicPr>
          <p:cNvPr id="7" name="Image 0" descr="/home/claude/ott_ppt/imgs/streamlit-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074920" cy="489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51576" y="1362456"/>
            <a:ext cx="5184648" cy="5001768"/>
          </a:xfrm>
          <a:prstGeom prst="roundRect">
            <a:avLst>
              <a:gd name="adj" fmla="val 1280"/>
            </a:avLst>
          </a:prstGeom>
          <a:solidFill>
            <a:srgbClr val="0B1128"/>
          </a:solidFill>
          <a:ln/>
        </p:spPr>
      </p:sp>
      <p:pic>
        <p:nvPicPr>
          <p:cNvPr id="9" name="Image 1" descr="/home/claude/ott_ppt/imgs/streamlit-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06440" y="1417320"/>
            <a:ext cx="5074920" cy="4892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Z-tests, T-tests and Chi-Square tests confirming which patterns are statistically meaningful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hypothesis testing across churn, renewal and engagement variables</a:t>
            </a:r>
            <a:endParaRPr lang="en-US" sz="13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52360" cy="411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One-Sample Z-Test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proportion vs 20%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D9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— churn far exceeds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One-Sample Z-Test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proportion vs 70%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D9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— renewal below 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Two-Sample T-Test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Duration: churned vs retained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Two-Sample T-Test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%: churned vs retained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Type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D9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Status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D9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significant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 vs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E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BA3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Duration vs Completion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6D9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but weak (R² ≈ 4.86%)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691640"/>
            <a:ext cx="3383280" cy="4251960"/>
          </a:xfrm>
          <a:prstGeom prst="roundRect">
            <a:avLst>
              <a:gd name="adj" fmla="val 2703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5820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3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CHURN RESULT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240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888 / 2,000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29992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churned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44.4%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4069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— significantly higher than the 20% benchmark used for testing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4937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churn is a statistically confirmed, significant business concern in this dataset.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Watch Duration can predict Completion Percentage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Duration (independent) → Completion Percentage (dependent)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B112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50017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0.2205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138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33472" y="489204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B112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33472" y="50017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4.86%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633472" y="55138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18304" y="489204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B112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18304" y="50017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718304" y="55138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03136" y="489204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B112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03136" y="50017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23.74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803136" y="55138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887968" y="489204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B112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887968" y="50017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27.50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887968" y="55138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55080" y="169164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9AA3C7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58368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2212848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significant but weak positive relationship exists between Watch Duration and Completion Percentage.
</a:t>
            </a:r>
            <a:r>
              <a:rPr lang="en-US" sz="11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4.86% means Watch Duration explains only a small share of the variation in completion — </a:t>
            </a:r>
            <a:r>
              <a:rPr lang="en-US" sz="1100" b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limited predictive power on its own.
</a:t>
            </a:r>
            <a:r>
              <a:rPr lang="en-US" sz="11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takeaway: completion should be modelled using genre, content duration, device, viewing time, ratings and engagement behaviour together — not Watch Duration alone.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Insights, Recommendations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Future Scope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every analytical finding into a decision the business can act 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headline findings from the combined Excel, Python, SQL &amp; Power BI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828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22199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Drive Deeper Engagement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60604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generate more viewing records, but TV Shows deliver substantially higher total watch hours &amp; average duration.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41648" y="169164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87952" y="1828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36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8795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87952" y="222199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Leads Viewing Demand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187952" y="260604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records the highest viewing volume of any analysed genre.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34656" y="169164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0" y="1828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5B9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22199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a Major Challenge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60604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≈44.4% of users churned vs. ≈55.6% retained — a significant retention opportunity.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" y="33832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" y="377647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Duration ≠ Completion Driver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94944" y="416052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only 0.2205 — limited standalone predictive power.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41648" y="324612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87952" y="33832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436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187952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187952" y="377647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Duration Barely Matters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187952" y="416052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completion is essentially negligible (-0.032).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34656" y="324612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80960" y="33832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5B94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377647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Varies by Segment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680960" y="416052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region, device, subscription type and time-of-day all shape engagement differently.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33649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" y="49377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6D9D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4944" y="4937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" y="5330952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Confirm the Churn Risk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94944" y="571500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proportion is significantly above the 20% benchmark — not just a visual pattern.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 prioritised action plan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28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TV Show Strategy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25856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focus on high-engagement TV Show categories showing strong watch-hour contribution.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745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828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High-Performing Genres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25856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viewing volume, watch hours, completion &amp; ratings together for acquisition decisions.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747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B9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29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Churn Prevention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85876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campaigns for users showing declining engagement or churn-linked traits.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32918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4747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429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Recommendations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385876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viewing history, preferred genres, platform behaviour and ratings for relevance.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0749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50292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Users Meaningfully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45896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subscription type, engagement level, region, device &amp; behaviour for targeting.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489204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50749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B94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50292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Content Continuously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545896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views, watch hours, completion, ratings &amp; rewatch to catch under/over-performers early.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findings with the right caveats in mind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20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83794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NIIT MediaTech case-study datasets — may not fully represent a real-world OTT environment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20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B9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183794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records had unusual/questionable durations; retained rather than removed to avoid unsupported assumptions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9718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88950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imply causation — relationships should not be read as causal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9718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288950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uses only Watch Duration as predictor, with limited explanatory power (R² ≈ 4.86%)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40233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394106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promotions, recommendation algorithms, content availability &amp; external events were not in the data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126480" y="3886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40233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B9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656832" y="394106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results depend on the quality and completeness of the underlying data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368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78992" y="499262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Platform-level churn should not be read as churn from one platform — users may use multiple platforms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126480" y="4937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B94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6364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656832" y="4992624"/>
            <a:ext cx="44622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conclusions are specific to this dataset and the selected hypotheses</a:t>
            </a:r>
            <a:endParaRPr lang="en-US" sz="98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8978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should be treated as decision-support insights rather than definitive causal conclusions.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this project from descriptive analytics to predictive, real-time intelligence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4144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Predictive Analytics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8036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Trees / Random Forests, clustering for segmentation &amp; recommender systems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041648" y="169164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436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24528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24528" y="244144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88036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viewing demand, watch hours, subscriber growth, churn trends &amp; genre demand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534656" y="169164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5B9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17536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17536" y="244144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Analytics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17536" y="288036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behavioural features for early-warning churn detection systems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233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26D9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5902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02920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viewing history, ratings, genres, completion &amp; user preferences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041648" y="384048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24528" y="40233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436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24528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224528" y="45902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224528" y="502920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data pipelines and live dashboards for content &amp; engagement monitoring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534656" y="3840480"/>
            <a:ext cx="3364992" cy="1965960"/>
          </a:xfrm>
          <a:prstGeom prst="roundRect">
            <a:avLst>
              <a:gd name="adj" fmla="val 418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17536" y="40233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5B94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17536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717536" y="4590288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Business Data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717536" y="5029200"/>
            <a:ext cx="2999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revenue, marketing spend, content cost &amp; support data for ROI / LTV analysis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Documentation &amp; Presentation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the complete project into final deliverables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7" name="Shape 5"/>
          <p:cNvSpPr/>
          <p:nvPr/>
        </p:nvSpPr>
        <p:spPr>
          <a:xfrm>
            <a:off x="175564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8" name="Shape 6"/>
          <p:cNvSpPr/>
          <p:nvPr/>
        </p:nvSpPr>
        <p:spPr>
          <a:xfrm>
            <a:off x="268833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1776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84464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5" name="Shape 13"/>
          <p:cNvSpPr/>
          <p:nvPr/>
        </p:nvSpPr>
        <p:spPr>
          <a:xfrm>
            <a:off x="9217152" y="6035040"/>
            <a:ext cx="146304" cy="146304"/>
          </a:xfrm>
          <a:prstGeom prst="ellipse">
            <a:avLst/>
          </a:prstGeom>
          <a:solidFill>
            <a:srgbClr val="2A33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6035040"/>
            <a:ext cx="219456" cy="219456"/>
          </a:xfrm>
          <a:prstGeom prst="ellipse">
            <a:avLst/>
          </a:prstGeom>
          <a:solidFill>
            <a:srgbClr val="26D9D1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57232" y="384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 w="12700">
            <a:solidFill>
              <a:srgbClr val="26D9D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57232" y="384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consolidated into a complete, presentable project package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16252"/>
            <a:ext cx="310896" cy="31089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0162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37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Excel datasets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87952" y="17373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2016252"/>
            <a:ext cx="310896" cy="31089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34256" y="20162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1737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Excel analysis workbook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27264" y="17373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73568" y="2016252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73568" y="20162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1737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" y="3022092"/>
            <a:ext cx="310896" cy="31089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" y="30220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743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notebook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87952" y="2743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34256" y="3022092"/>
            <a:ext cx="310896" cy="31089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34256" y="30220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736592" y="2743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&amp; SQL analysis script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27264" y="27432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73568" y="3022092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73568" y="30220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75904" y="2743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(.pbix)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944" y="4027932"/>
            <a:ext cx="310896" cy="31089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4944" y="40279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3749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KPIs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87952" y="3749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34256" y="4027932"/>
            <a:ext cx="310896" cy="31089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334256" y="40279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736592" y="3749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hypothesis-testing outputs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27264" y="3749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973568" y="4027932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73568" y="40279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375904" y="3749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analysis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7548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94944" y="5033772"/>
            <a:ext cx="310896" cy="310896"/>
          </a:xfrm>
          <a:prstGeom prst="ellipse">
            <a:avLst/>
          </a:prstGeom>
          <a:solidFill>
            <a:srgbClr val="26D9D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4944" y="50337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4754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87952" y="47548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34256" y="5033772"/>
            <a:ext cx="310896" cy="310896"/>
          </a:xfrm>
          <a:prstGeom prst="ellipse">
            <a:avLst/>
          </a:prstGeom>
          <a:solidFill>
            <a:srgbClr val="E4368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334256" y="50337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4736592" y="4754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documentation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27264" y="47548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9AA3C7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973568" y="5033772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973568" y="50337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8375904" y="47548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(this deck)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6400800" cy="64008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68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OTT Data to Data-Driven Decisions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6492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analysed OTT viewing patterns across user behaviour, content performance, platform performance, subscription &amp; churn, ratings, region, device and time-of-day — using Excel, Python, SQL, Power BI, statistical testing and regression.
TV Shows delivered deeper engagement despite Movies leading on views, and a confirmed </a:t>
            </a:r>
            <a:r>
              <a:rPr lang="en-US" sz="1300" b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 churn rate</a:t>
            </a:r>
            <a:r>
              <a:rPr lang="en-US" sz="13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highlighted a significant, statistically validated retention challenge. Watch Duration alone showed only weak predictive power (R² ≈ 4.86%) for completion, pointing toward richer, multi-factor models going forward.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169164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240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23134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phases followed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9900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datasets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7398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44.4%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3813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churn rate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4897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D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4.86%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45628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R²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how data cleaning, EDA, SQL, statistical validation, regression, visualisation and BI combine to transform OTT data into actionable business insight.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13204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6D9D1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969264" y="2423160"/>
            <a:ext cx="274320" cy="292608"/>
          </a:xfrm>
          <a:prstGeom prst="triangle">
            <a:avLst/>
          </a:prstGeom>
          <a:solidFill>
            <a:srgbClr val="0B11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0632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41B36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5084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5321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Kancharla Ramya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5084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5321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Program in Data Analytics with GenAI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5084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5321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5084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6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5321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09 / 2026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MediaTech OTT Analytics Capstone  |  NIIT — Professional Program in Data Analytics with GenAI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4143</Words>
  <Application>Microsoft Office PowerPoint</Application>
  <PresentationFormat>Widescreen</PresentationFormat>
  <Paragraphs>701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Ramya Kancharla</cp:lastModifiedBy>
  <cp:revision>1</cp:revision>
  <dcterms:created xsi:type="dcterms:W3CDTF">2026-09-10T09:28:03Z</dcterms:created>
  <dcterms:modified xsi:type="dcterms:W3CDTF">2026-09-10T10:58:59Z</dcterms:modified>
</cp:coreProperties>
</file>